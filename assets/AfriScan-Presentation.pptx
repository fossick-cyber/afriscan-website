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4F8FF7"/>
                </a:solidFill>
                <a:latin typeface="Calibri"/>
              </a:defRPr>
            </a:pPr>
            <a:r>
              <a:t>AfriScan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8FA3"/>
                </a:solidFill>
                <a:latin typeface="Calibri"/>
              </a:defRPr>
            </a:pPr>
            <a:r>
              <a:t>by Afridrone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Pipeline Corridor Scanning</a:t>
            </a:r>
            <a:br/>
            <a:r>
              <a:t>&amp; Encroachment Detection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Protect your infrastructure. Know what's on the ground.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54864"/>
          </a:xfrm>
          <a:prstGeom prst="rect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FF7"/>
                </a:solidFill>
                <a:latin typeface="Calibri"/>
              </a:defRPr>
            </a:pPr>
            <a:r>
              <a:t>Community Encroachment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New buildings, settlements, and farming creep into pipeline corridors and concession areas. Without monitoring, encroachment goes undetected until it becomes a crisis.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FF7"/>
                </a:solidFill>
                <a:latin typeface="Calibri"/>
              </a:defRPr>
            </a:pPr>
            <a:r>
              <a:t>Costly Disputes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Undetected land use changes lead to compensation claims, legal battles, and project delays. A single relocation dispute can cost millions.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FF7"/>
                </a:solidFill>
                <a:latin typeface="Calibri"/>
              </a:defRPr>
            </a:pPr>
            <a:r>
              <a:t>Safety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People living near pipelines and powerlines face real danger. Regulators hold operators accountable for encroachment in their corridor.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Solution: AfriScan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54864"/>
          </a:xfrm>
          <a:prstGeom prst="rect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Draw a pipeline route. Click scan.</a:t>
            </a:r>
            <a:br/>
            <a:r>
              <a:t>Get a complete encroachment report — in minutes.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3017520"/>
            <a:ext cx="640080" cy="640080"/>
          </a:xfrm>
          <a:prstGeom prst="ellipse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Draw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3"/>
                </a:solidFill>
                <a:latin typeface="Calibri"/>
              </a:defRPr>
            </a:pPr>
            <a:r>
              <a:t>Draw on map, upload KML,</a:t>
            </a:r>
            <a:br/>
            <a:r>
              <a:t>or select existing route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3017520"/>
            <a:ext cx="640080" cy="640080"/>
          </a:xfrm>
          <a:prstGeom prst="ellipse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Scans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3"/>
                </a:solidFill>
                <a:latin typeface="Calibri"/>
              </a:defRPr>
            </a:pPr>
            <a:r>
              <a:t>3 AI models analyse</a:t>
            </a:r>
            <a:br/>
            <a:r>
              <a:t>satellite imagery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3017520"/>
            <a:ext cx="640080" cy="640080"/>
          </a:xfrm>
          <a:prstGeom prst="ellipse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Risk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3"/>
                </a:solidFill>
                <a:latin typeface="Calibri"/>
              </a:defRPr>
            </a:pPr>
            <a:r>
              <a:t>Every 500m segment</a:t>
            </a:r>
            <a:br/>
            <a:r>
              <a:t>classified by risk</a:t>
            </a:r>
          </a:p>
        </p:txBody>
      </p:sp>
      <p:sp>
        <p:nvSpPr>
          <p:cNvPr id="14" name="Oval 13"/>
          <p:cNvSpPr/>
          <p:nvPr/>
        </p:nvSpPr>
        <p:spPr>
          <a:xfrm>
            <a:off x="9784080" y="3017520"/>
            <a:ext cx="640080" cy="640080"/>
          </a:xfrm>
          <a:prstGeom prst="ellipse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3"/>
                </a:solidFill>
                <a:latin typeface="Calibri"/>
              </a:defRPr>
            </a:pPr>
            <a:r>
              <a:t>PDF report, Google Earth,</a:t>
            </a:r>
            <a:br/>
            <a:r>
              <a:t>GIS exports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Multi-Model AI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54864"/>
          </a:xfrm>
          <a:prstGeom prst="rect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C759"/>
                </a:solidFill>
                <a:latin typeface="Calibri"/>
              </a:defRPr>
            </a:pPr>
            <a:r>
              <a:t>Google Open Buildings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398 buildings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Pre-mapped building footprints</a:t>
            </a:r>
            <a:br/>
            <a:r>
              <a:t>from Google's global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FF7"/>
                </a:solidFill>
                <a:latin typeface="Calibri"/>
              </a:defRPr>
            </a:pPr>
            <a:r>
              <a:t>RAMP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+537 additional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Semantic segmentation model trained</a:t>
            </a:r>
            <a:br/>
            <a:r>
              <a:t>for African rural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0A"/>
                </a:solidFill>
                <a:latin typeface="Calibri"/>
              </a:defRPr>
            </a:pPr>
            <a:r>
              <a:t>Custom YOLO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Fine-tuned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Train on your own imagery</a:t>
            </a:r>
            <a:br/>
            <a:r>
              <a:t>for maximum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Combined: 935 buildings detected on a 4.6km test corridor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FA3"/>
                </a:solidFill>
                <a:latin typeface="Calibri"/>
              </a:defRPr>
            </a:pPr>
            <a:r>
              <a:t>Purpose-built for Africa — detects mud huts, thatched roofs,</a:t>
            </a:r>
            <a:br/>
            <a:r>
              <a:t>zinc compounds, and informal structures that generic models miss.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Risk Segment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54864"/>
          </a:xfrm>
          <a:prstGeom prst="rect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Pipeline divided into 500m segments, each classified by encroachment density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FA3"/>
                </a:solidFill>
                <a:latin typeface="Calibri"/>
              </a:defRPr>
            </a:pPr>
            <a:r>
              <a:t>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FA3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FA3"/>
                </a:solidFill>
                <a:latin typeface="Calibri"/>
              </a:defRPr>
            </a:pPr>
            <a:r>
              <a:t>Buildings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 – 500m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3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16 buildings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500 – 1000m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 buildings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1000 – 1500m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3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34 buildings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1500 – 2000m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3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41 buildings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2000 – 2500m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2 buildings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2500 – 3000m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3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8 buildings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3000 – 3500m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3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18 buildings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3"/>
                </a:solidFill>
                <a:latin typeface="Calibri"/>
              </a:defRPr>
            </a:pPr>
            <a:r>
              <a:t>Real data from Pande test corridor, Mozambique — 4.6km pipeline route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54864"/>
          </a:xfrm>
          <a:prstGeom prst="rect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FF7"/>
                </a:solidFill>
                <a:latin typeface="Calibri"/>
              </a:defRPr>
            </a:pPr>
            <a:r>
              <a:t>Professional PDF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Executive summary, risk rating, building photos with GPS,</a:t>
            </a:r>
            <a:br/>
            <a:r>
              <a:t>coordinate tables, risk segment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FF7"/>
                </a:solidFill>
                <a:latin typeface="Calibri"/>
              </a:defRPr>
            </a:pPr>
            <a:r>
              <a:t>Interactive Web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Colour-coded risk segments, toggleable building layers,</a:t>
            </a:r>
            <a:br/>
            <a:r>
              <a:t>satellite imagery, click any detection for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FF7"/>
                </a:solidFill>
                <a:latin typeface="Calibri"/>
              </a:defRPr>
            </a:pPr>
            <a:r>
              <a:t>Google Earth Export (KMZ)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Open in Google Earth — buildings as placemarks,</a:t>
            </a:r>
            <a:br/>
            <a:r>
              <a:t>risk segments as colour-coded lines, full route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FF7"/>
                </a:solidFill>
                <a:latin typeface="Calibri"/>
              </a:defRPr>
            </a:pPr>
            <a:r>
              <a:t>GIS Data (GeoPackage / GeoJSON)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Every building with distance to pipeline, buffer zone,</a:t>
            </a:r>
            <a:br/>
            <a:r>
              <a:t>confidence score, source model — ready for your GIS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FF7"/>
                </a:solidFill>
                <a:latin typeface="Calibri"/>
              </a:defRPr>
            </a:pPr>
            <a:r>
              <a:t>Historical Change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Compare scans over time — new buildings highlighted,</a:t>
            </a:r>
            <a:br/>
            <a:r>
              <a:t>trend analysis for progressive encroachment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Industries We Serve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54864"/>
          </a:xfrm>
          <a:prstGeom prst="rect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8FF7"/>
                </a:solidFill>
                <a:latin typeface="Calibri"/>
              </a:defRPr>
            </a:pPr>
            <a:r>
              <a:t>Oil &amp;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Pipeline corridor monitoring,</a:t>
            </a:r>
            <a:br/>
            <a:r>
              <a:t>right-of-way encroachment,</a:t>
            </a:r>
            <a:br/>
            <a:r>
              <a:t>construction zone surveys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8FF7"/>
                </a:solidFill>
                <a:latin typeface="Calibri"/>
              </a:defRPr>
            </a:pPr>
            <a:r>
              <a:t>Mining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Concession boundary monitoring,</a:t>
            </a:r>
            <a:br/>
            <a:r>
              <a:t>artisanal mining detection,</a:t>
            </a:r>
            <a:br/>
            <a:r>
              <a:t>settlement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8FF7"/>
                </a:solidFill>
                <a:latin typeface="Calibri"/>
              </a:defRPr>
            </a:pPr>
            <a:r>
              <a:t>Power &amp; Utilities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Transmission line corridors,</a:t>
            </a:r>
            <a:br/>
            <a:r>
              <a:t>vegetation encroachment,</a:t>
            </a:r>
            <a:br/>
            <a:r>
              <a:t>exclusion zone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8FF7"/>
                </a:solidFill>
                <a:latin typeface="Calibri"/>
              </a:defRPr>
            </a:pPr>
            <a:r>
              <a:t>Telecoms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Fibre route surveys,</a:t>
            </a:r>
            <a:br/>
            <a:r>
              <a:t>cell tower site monitoring,</a:t>
            </a:r>
            <a:br/>
            <a:r>
              <a:t>coverage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AfriScan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54864"/>
          </a:xfrm>
          <a:prstGeom prst="rect">
            <a:avLst/>
          </a:prstGeom>
          <a:solidFill>
            <a:srgbClr val="4F8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Africa-trained AI — detects structures generic models miss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One-click scanning — no GIS expertise required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 AI models working together for maximum coverage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Risk-rated pipeline segments — prioritise where to act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Professional reports ready for regulators and stakeholders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Google Earth export — results your field teams can use immediately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Historical tracking — monitor encroachment trends over time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Mobile-ready — run scans and review results from any device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F8FF7"/>
                </a:solidFill>
                <a:latin typeface="Calibri"/>
              </a:defRPr>
            </a:pPr>
            <a:r>
              <a:t>AfriScan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B8FA3"/>
                </a:solidFill>
                <a:latin typeface="Calibri"/>
              </a:defRPr>
            </a:pPr>
            <a:r>
              <a:t>by Afridrone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Protect your pipeline corridors and concessions</a:t>
            </a:r>
            <a:br/>
            <a:r>
              <a:t>with AI-powered encroachment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8FF7"/>
                </a:solidFill>
                <a:latin typeface="Calibri"/>
              </a:defRPr>
            </a:pPr>
            <a:r>
              <a:t>afri-scan.com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3"/>
                </a:solidFill>
                <a:latin typeface="Calibri"/>
              </a:defRPr>
            </a:pPr>
            <a:r>
              <a:t>afridr.one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